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74" r:id="rId3"/>
    <p:sldId id="275" r:id="rId4"/>
    <p:sldId id="260" r:id="rId5"/>
    <p:sldId id="261" r:id="rId6"/>
    <p:sldId id="263" r:id="rId7"/>
    <p:sldId id="264" r:id="rId8"/>
    <p:sldId id="271" r:id="rId9"/>
    <p:sldId id="265" r:id="rId10"/>
    <p:sldId id="272" r:id="rId11"/>
    <p:sldId id="267" r:id="rId12"/>
    <p:sldId id="268" r:id="rId13"/>
    <p:sldId id="269" r:id="rId14"/>
    <p:sldId id="273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59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42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3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6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9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78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56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480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812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80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40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020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109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809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396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70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89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83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14" y="212423"/>
            <a:ext cx="8229600" cy="1143000"/>
          </a:xfrm>
        </p:spPr>
        <p:txBody>
          <a:bodyPr/>
          <a:lstStyle/>
          <a:p>
            <a:r>
              <a:rPr dirty="0"/>
              <a:t>Input Decision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871" y="172135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2800" dirty="0"/>
              <a:t>• 20 logistics providers </a:t>
            </a:r>
            <a:endParaRPr lang="en-US" sz="2800" dirty="0"/>
          </a:p>
          <a:p>
            <a:pPr marL="0" indent="0">
              <a:buNone/>
            </a:pPr>
            <a:r>
              <a:rPr sz="2800" dirty="0"/>
              <a:t>• 5 evaluation criteria: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</a:t>
            </a:r>
            <a:r>
              <a:rPr sz="2800" dirty="0"/>
              <a:t>Price, 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</a:t>
            </a:r>
            <a:r>
              <a:rPr sz="2800" dirty="0"/>
              <a:t>Delivery</a:t>
            </a:r>
            <a:endParaRPr lang="en-US" sz="2800" dirty="0"/>
          </a:p>
          <a:p>
            <a:pPr marL="0" indent="0">
              <a:buNone/>
            </a:pPr>
            <a:r>
              <a:rPr sz="2800" dirty="0"/>
              <a:t> </a:t>
            </a:r>
            <a:r>
              <a:rPr lang="en-US" sz="2800" dirty="0"/>
              <a:t>  </a:t>
            </a:r>
            <a:r>
              <a:rPr sz="2800" dirty="0"/>
              <a:t>Safety, 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</a:t>
            </a:r>
            <a:r>
              <a:rPr sz="2800" dirty="0"/>
              <a:t>Technology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</a:t>
            </a:r>
            <a:r>
              <a:rPr sz="2800" dirty="0"/>
              <a:t>Social</a:t>
            </a:r>
          </a:p>
          <a:p>
            <a:pPr marL="0" indent="0">
              <a:buNone/>
            </a:pPr>
            <a:r>
              <a:rPr sz="2800" dirty="0"/>
              <a:t>• Values are normalized between 0 and 1</a:t>
            </a:r>
          </a:p>
          <a:p>
            <a:pPr marL="0" indent="0">
              <a:buNone/>
            </a:pPr>
            <a:r>
              <a:rPr sz="2800" dirty="0"/>
              <a:t>• This table is called the decision matrix in multi‑criteria decision making</a:t>
            </a:r>
            <a:r>
              <a:rPr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6B3362-0E21-AB78-0D58-10DBA3FC0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557" y="1136452"/>
            <a:ext cx="4746529" cy="20508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4EE40-54C1-07D0-E1FC-12B9DBA46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8232570" cy="1400530"/>
          </a:xfrm>
        </p:spPr>
        <p:txBody>
          <a:bodyPr/>
          <a:lstStyle/>
          <a:p>
            <a:r>
              <a:rPr lang="en-US" sz="4000" dirty="0"/>
              <a:t>Fuzzy AHP Weight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BE2CF-DDD4-EB75-E7DA-196E313D6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819594"/>
            <a:ext cx="8232570" cy="3185159"/>
          </a:xfrm>
        </p:spPr>
        <p:txBody>
          <a:bodyPr>
            <a:noAutofit/>
          </a:bodyPr>
          <a:lstStyle/>
          <a:p>
            <a:r>
              <a:rPr lang="en-US" sz="2400" dirty="0"/>
              <a:t>This code computes the </a:t>
            </a:r>
            <a:r>
              <a:rPr lang="en-US" sz="2400" b="1" dirty="0"/>
              <a:t>criteria weights using the Fuzzy Analytic Hierarchy Process</a:t>
            </a:r>
            <a:r>
              <a:rPr lang="en-US" sz="2400" dirty="0"/>
              <a:t>. A </a:t>
            </a:r>
            <a:r>
              <a:rPr lang="en-US" sz="2400" b="1" dirty="0"/>
              <a:t>fuzzy pairwise comparison matrix</a:t>
            </a:r>
            <a:r>
              <a:rPr lang="en-US" sz="2400" dirty="0"/>
              <a:t> is defined using triangular fuzzy numbers to represent the relative importance between criteria such as price, delivery, safety, technology, and social sustainability. The </a:t>
            </a:r>
            <a:r>
              <a:rPr lang="en-US" sz="2400" b="1" dirty="0"/>
              <a:t>geometric mean method</a:t>
            </a:r>
            <a:r>
              <a:rPr lang="en-US" sz="2400" dirty="0"/>
              <a:t> is then applied to aggregate the comparisons and obtain fuzzy priority values. These values are </a:t>
            </a:r>
            <a:r>
              <a:rPr lang="en-US" sz="2400" b="1" dirty="0"/>
              <a:t>normalized and </a:t>
            </a:r>
            <a:r>
              <a:rPr lang="en-US" sz="2400" b="1" dirty="0" err="1"/>
              <a:t>defuzzified</a:t>
            </a:r>
            <a:r>
              <a:rPr lang="en-US" sz="2400" dirty="0"/>
              <a:t> to produce final crisp weights, which are later used in the </a:t>
            </a:r>
            <a:r>
              <a:rPr lang="en-US" sz="2400" b="1" dirty="0"/>
              <a:t>TOPSIS model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50179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1FDD7A-4212-76B4-F701-88800396E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12" y="153971"/>
            <a:ext cx="4460323" cy="5682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9422A7-4862-97F0-DED8-0FA57C863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120" y="299770"/>
            <a:ext cx="3877858" cy="44813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4D18E1-E454-A269-6821-632576E3F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120" y="5151996"/>
            <a:ext cx="3014817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651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TOPSIS Weighted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90" y="1820590"/>
            <a:ext cx="8229600" cy="4525963"/>
          </a:xfrm>
        </p:spPr>
        <p:txBody>
          <a:bodyPr/>
          <a:lstStyle/>
          <a:p>
            <a:r>
              <a:rPr sz="2800" dirty="0"/>
              <a:t>Each criterion value is multiplied by its weight:</a:t>
            </a:r>
          </a:p>
          <a:p>
            <a:r>
              <a:rPr sz="2800" dirty="0" err="1"/>
              <a:t>v_ij</a:t>
            </a:r>
            <a:r>
              <a:rPr sz="2800" dirty="0"/>
              <a:t> = </a:t>
            </a:r>
            <a:r>
              <a:rPr sz="2800" dirty="0" err="1"/>
              <a:t>w_j</a:t>
            </a:r>
            <a:r>
              <a:rPr sz="2800" dirty="0"/>
              <a:t> × </a:t>
            </a:r>
            <a:r>
              <a:rPr sz="2800" dirty="0" err="1"/>
              <a:t>x_ij</a:t>
            </a:r>
            <a:endParaRPr sz="2800" dirty="0"/>
          </a:p>
          <a:p>
            <a:endParaRPr sz="2800" dirty="0"/>
          </a:p>
          <a:p>
            <a:r>
              <a:rPr sz="2800" dirty="0"/>
              <a:t>This creates a weighted decision matrix where more important criteria have greater impact on the final ranking</a:t>
            </a:r>
            <a:r>
              <a:rPr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C2873-B46F-B423-AD9F-B98076E0F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700" y="2557515"/>
            <a:ext cx="3194011" cy="6634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5916"/>
            <a:ext cx="8964386" cy="1143000"/>
          </a:xfrm>
        </p:spPr>
        <p:txBody>
          <a:bodyPr>
            <a:noAutofit/>
          </a:bodyPr>
          <a:lstStyle/>
          <a:p>
            <a:pPr algn="ctr"/>
            <a:r>
              <a:rPr sz="3600" dirty="0"/>
              <a:t>Ideal</a:t>
            </a:r>
            <a:r>
              <a:rPr lang="en-US" sz="3600" dirty="0"/>
              <a:t>,</a:t>
            </a:r>
            <a:r>
              <a:rPr sz="3600" dirty="0"/>
              <a:t> Anti‑Ideal Solutions</a:t>
            </a:r>
            <a:r>
              <a:rPr lang="en-US" sz="3600" dirty="0"/>
              <a:t> and </a:t>
            </a:r>
            <a:br>
              <a:rPr lang="en-US" sz="3600" dirty="0"/>
            </a:br>
            <a:r>
              <a:rPr lang="en-US" sz="3600" dirty="0"/>
              <a:t>Distance Calculation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8" y="1525984"/>
            <a:ext cx="7919358" cy="4062809"/>
          </a:xfrm>
        </p:spPr>
        <p:txBody>
          <a:bodyPr>
            <a:normAutofit lnSpcReduction="10000"/>
          </a:bodyPr>
          <a:lstStyle/>
          <a:p>
            <a:r>
              <a:rPr sz="2800" dirty="0"/>
              <a:t>Ideal solution = best value for each criterion</a:t>
            </a:r>
          </a:p>
          <a:p>
            <a:r>
              <a:rPr sz="2800" dirty="0"/>
              <a:t>Anti‑ideal solution = worst value for each criterion</a:t>
            </a:r>
          </a:p>
          <a:p>
            <a:r>
              <a:rPr sz="2800" dirty="0"/>
              <a:t>The best provider should be closest to the ideal solution and farthest from the worst solution.</a:t>
            </a:r>
            <a:endParaRPr lang="en-US" sz="2800" dirty="0"/>
          </a:p>
          <a:p>
            <a:r>
              <a:rPr lang="en-US" sz="2800" dirty="0"/>
              <a:t>S+ = distance from ideal solution</a:t>
            </a:r>
          </a:p>
          <a:p>
            <a:r>
              <a:rPr lang="en-US" sz="2800" dirty="0"/>
              <a:t>S− = distance from worst solution</a:t>
            </a:r>
          </a:p>
          <a:p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CB17CC-46B4-F12A-B12A-DD0403DAA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54" y="5719327"/>
            <a:ext cx="4182839" cy="9498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303FF2-130A-813E-1BB7-DDD13F823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588793"/>
            <a:ext cx="4302596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Closeness Score and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914" y="1693866"/>
            <a:ext cx="8365375" cy="4919205"/>
          </a:xfrm>
        </p:spPr>
        <p:txBody>
          <a:bodyPr/>
          <a:lstStyle/>
          <a:p>
            <a:pPr marL="0" indent="0">
              <a:buNone/>
            </a:pPr>
            <a:r>
              <a:rPr sz="2400" dirty="0"/>
              <a:t>Formula:</a:t>
            </a:r>
          </a:p>
          <a:p>
            <a:r>
              <a:rPr sz="2400" dirty="0"/>
              <a:t>Ci = S− / (S+ + S−)</a:t>
            </a:r>
          </a:p>
          <a:p>
            <a:endParaRPr sz="2400" dirty="0"/>
          </a:p>
          <a:p>
            <a:r>
              <a:rPr sz="2400" dirty="0"/>
              <a:t>Higher score means the provider is closer to the ideal solution.</a:t>
            </a:r>
          </a:p>
          <a:p>
            <a:r>
              <a:rPr sz="2400" dirty="0"/>
              <a:t>Providers are ranked based on this score</a:t>
            </a:r>
            <a:r>
              <a:rPr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E1DA6-0AB0-A0E5-9865-079459638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684" y="1807816"/>
            <a:ext cx="3529202" cy="1286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Fuzzy Inference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902235"/>
            <a:ext cx="8174580" cy="4604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Criteria are converted into linguistic values (Low, Medium, High)</a:t>
            </a:r>
          </a:p>
          <a:p>
            <a:r>
              <a:rPr sz="2800" dirty="0"/>
              <a:t>Fuzzy rules simulate expert reasoning</a:t>
            </a:r>
          </a:p>
          <a:p>
            <a:r>
              <a:rPr sz="2800" dirty="0"/>
              <a:t>Example rule:</a:t>
            </a:r>
          </a:p>
          <a:p>
            <a:r>
              <a:rPr sz="2800" dirty="0"/>
              <a:t>IF price is low AND delivery is high AND safety is high THEN score is good.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343D91-B039-5F45-198E-446FBE3DD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74" y="642548"/>
            <a:ext cx="7001852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26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800" dirty="0"/>
              <a:t>This table compares:</a:t>
            </a:r>
          </a:p>
          <a:p>
            <a:pPr marL="0" indent="0">
              <a:buNone/>
            </a:pPr>
            <a:r>
              <a:rPr sz="2800" dirty="0"/>
              <a:t>• TOPSIS score and rank</a:t>
            </a:r>
          </a:p>
          <a:p>
            <a:pPr marL="0" indent="0">
              <a:buNone/>
            </a:pPr>
            <a:r>
              <a:rPr lang="en-US" sz="2800" dirty="0"/>
              <a:t>•</a:t>
            </a:r>
            <a:r>
              <a:rPr sz="2800" dirty="0"/>
              <a:t> FIS score and rank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sz="2800" dirty="0"/>
              <a:t>It helps determine whether mathematical ranking and fuzzy reasoning produce similar results.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E8862A-5825-A390-2DA1-72EFFF940B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405"/>
          <a:stretch>
            <a:fillRect/>
          </a:stretch>
        </p:blipFill>
        <p:spPr>
          <a:xfrm>
            <a:off x="4132115" y="1417638"/>
            <a:ext cx="4554685" cy="3943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C13A43-3E4B-F24E-DD9B-E15B614B0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8" y="173078"/>
            <a:ext cx="4341229" cy="32559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B5206C-C44A-7940-1BAA-5C3B2AF9C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72" y="156763"/>
            <a:ext cx="4432655" cy="33244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51350A-BDC0-99FA-C472-7306C88CD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614" y="3557172"/>
            <a:ext cx="4192086" cy="314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59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432"/>
            <a:ext cx="7055380" cy="1400530"/>
          </a:xfrm>
        </p:spPr>
        <p:txBody>
          <a:bodyPr/>
          <a:lstStyle/>
          <a:p>
            <a:r>
              <a:rPr dirty="0"/>
              <a:t>Sensitivity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7300"/>
            <a:ext cx="8229600" cy="622118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sz="2800" dirty="0"/>
              <a:t>Price weight is varied between 0.3 and 0.7.</a:t>
            </a:r>
          </a:p>
          <a:p>
            <a:r>
              <a:rPr sz="2800" dirty="0"/>
              <a:t>TOPSIS ranking is recalculated each time.</a:t>
            </a:r>
          </a:p>
          <a:p>
            <a:endParaRPr sz="2800" dirty="0"/>
          </a:p>
          <a:p>
            <a:r>
              <a:rPr sz="2800" dirty="0"/>
              <a:t>This checks whether the decision changes when criterion importance changes.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133BAD-D90E-88E3-D5F9-B7E798CA6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57" y="1227446"/>
            <a:ext cx="4777743" cy="28607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09" y="452718"/>
            <a:ext cx="7957161" cy="1400530"/>
          </a:xfrm>
        </p:spPr>
        <p:txBody>
          <a:bodyPr>
            <a:normAutofit/>
          </a:bodyPr>
          <a:lstStyle/>
          <a:p>
            <a:r>
              <a:rPr sz="3600" dirty="0"/>
              <a:t>Correlation and Criteria Influence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78326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sz="2800" dirty="0"/>
              <a:t>Correlation heatmap shows relationships between criteria and TOPSIS score.</a:t>
            </a:r>
          </a:p>
          <a:p>
            <a:r>
              <a:rPr sz="2800" dirty="0"/>
              <a:t>The importance graph highlights which criteria influence rankings most.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414614-9C94-46AA-B68F-E721CBAAC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0" y="1569903"/>
            <a:ext cx="3516229" cy="2773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18C960-A553-94B8-E542-A1B646EA9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289" y="1535772"/>
            <a:ext cx="3668340" cy="27734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5137"/>
            <a:ext cx="8229600" cy="1143000"/>
          </a:xfrm>
        </p:spPr>
        <p:txBody>
          <a:bodyPr>
            <a:normAutofit/>
          </a:bodyPr>
          <a:lstStyle/>
          <a:p>
            <a:r>
              <a:rPr dirty="0"/>
              <a:t>Monte Carlo Robustness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440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5000 simulations are run</a:t>
            </a:r>
          </a:p>
          <a:p>
            <a:pPr marL="0" indent="0">
              <a:buNone/>
            </a:pPr>
            <a:r>
              <a:rPr sz="2800" dirty="0"/>
              <a:t>• Random weights are 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 g</a:t>
            </a:r>
            <a:r>
              <a:rPr sz="2800" dirty="0"/>
              <a:t>enerated</a:t>
            </a:r>
            <a:r>
              <a:rPr lang="en-US" sz="2800" dirty="0"/>
              <a:t> </a:t>
            </a:r>
            <a:r>
              <a:rPr sz="2800" dirty="0"/>
              <a:t>each time</a:t>
            </a:r>
          </a:p>
          <a:p>
            <a:pPr marL="0" indent="0">
              <a:buNone/>
            </a:pPr>
            <a:r>
              <a:rPr sz="2800" dirty="0"/>
              <a:t>• TOPSIS ranking is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</a:t>
            </a:r>
            <a:r>
              <a:rPr sz="2800" dirty="0"/>
              <a:t> recalculated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sz="2800" dirty="0"/>
              <a:t>The provider that appears most often as rank #1 is considered the most robust choice.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B1DACE-9E88-25CC-C9C1-59012FD9A0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952"/>
          <a:stretch>
            <a:fillRect/>
          </a:stretch>
        </p:blipFill>
        <p:spPr>
          <a:xfrm>
            <a:off x="5038264" y="1417638"/>
            <a:ext cx="3991436" cy="4039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A9ED8A-FD90-2050-D784-47A139858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13" y="698047"/>
            <a:ext cx="6567357" cy="492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478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/>
              <a:t>Final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1" y="1853249"/>
            <a:ext cx="8218418" cy="50047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• TOPSIS identifies the mathematically optimal provider</a:t>
            </a:r>
          </a:p>
          <a:p>
            <a:pPr marL="0" indent="0">
              <a:buNone/>
            </a:pPr>
            <a:r>
              <a:rPr sz="2400" dirty="0"/>
              <a:t>• Fuzzy system models human expert reasoning</a:t>
            </a:r>
          </a:p>
          <a:p>
            <a:pPr marL="0" indent="0">
              <a:buNone/>
            </a:pPr>
            <a:r>
              <a:rPr sz="2400" dirty="0"/>
              <a:t>• Sensitivity analysis checks stability</a:t>
            </a:r>
          </a:p>
          <a:p>
            <a:pPr marL="0" indent="0">
              <a:buNone/>
            </a:pPr>
            <a:r>
              <a:rPr sz="2400" dirty="0"/>
              <a:t>• Monte Carlo simulation identifies robust providers</a:t>
            </a:r>
          </a:p>
          <a:p>
            <a:endParaRPr sz="2400" dirty="0"/>
          </a:p>
          <a:p>
            <a:r>
              <a:rPr sz="2400" dirty="0"/>
              <a:t>Together these methods create a comprehensive decision support system.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Custom 5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163C3F"/>
      </a:accent1>
      <a:accent2>
        <a:srgbClr val="EA6312"/>
      </a:accent2>
      <a:accent3>
        <a:srgbClr val="E6B729"/>
      </a:accent3>
      <a:accent4>
        <a:srgbClr val="3B7B75"/>
      </a:accent4>
      <a:accent5>
        <a:srgbClr val="FFFFFF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64</TotalTime>
  <Words>473</Words>
  <Application>Microsoft Office PowerPoint</Application>
  <PresentationFormat>On-screen Show (4:3)</PresentationFormat>
  <Paragraphs>83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Century Gothic</vt:lpstr>
      <vt:lpstr>Wingdings 3</vt:lpstr>
      <vt:lpstr>Ion</vt:lpstr>
      <vt:lpstr>Input Decision Matrix</vt:lpstr>
      <vt:lpstr>Fuzzy AHP Weight Computation</vt:lpstr>
      <vt:lpstr>PowerPoint Presentation</vt:lpstr>
      <vt:lpstr>TOPSIS Weighted Matrix</vt:lpstr>
      <vt:lpstr>Ideal, Anti‑Ideal Solutions and  Distance Calculation</vt:lpstr>
      <vt:lpstr>Closeness Score and Ranking</vt:lpstr>
      <vt:lpstr>Fuzzy Inference System</vt:lpstr>
      <vt:lpstr>PowerPoint Presentation</vt:lpstr>
      <vt:lpstr>Model Comparison</vt:lpstr>
      <vt:lpstr>PowerPoint Presentation</vt:lpstr>
      <vt:lpstr>Sensitivity Analysis</vt:lpstr>
      <vt:lpstr>Correlation and Criteria Influence</vt:lpstr>
      <vt:lpstr>Monte Carlo Robustness Test</vt:lpstr>
      <vt:lpstr>PowerPoint Presentation</vt:lpstr>
      <vt:lpstr>Final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Lenovo</cp:lastModifiedBy>
  <cp:revision>5</cp:revision>
  <dcterms:created xsi:type="dcterms:W3CDTF">2013-01-27T09:14:16Z</dcterms:created>
  <dcterms:modified xsi:type="dcterms:W3CDTF">2026-03-13T07:41:50Z</dcterms:modified>
  <cp:category/>
</cp:coreProperties>
</file>